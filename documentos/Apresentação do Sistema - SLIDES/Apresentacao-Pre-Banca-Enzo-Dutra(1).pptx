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9144000"/>
  <p:notesSz cx="6858000" cy="9144000"/>
  <p:embeddedFontLst>
    <p:embeddedFont>
      <p:font typeface="Arim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imo-bold.fntdata"/><Relationship Id="rId25" Type="http://schemas.openxmlformats.org/officeDocument/2006/relationships/font" Target="fonts/Arimo-regular.fntdata"/><Relationship Id="rId28" Type="http://schemas.openxmlformats.org/officeDocument/2006/relationships/font" Target="fonts/Arimo-boldItalic.fntdata"/><Relationship Id="rId27" Type="http://schemas.openxmlformats.org/officeDocument/2006/relationships/font" Target="fonts/Arim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304bd43cd_1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304bd43cd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304bd43c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f304bd43cd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304bd43cd_1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f304bd43cd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304bd43cd_1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304bd43cd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304bd43cd_1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304bd43cd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304bd43cd_1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304bd43cd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304bd43cd_1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304bd43cd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304bd43cd_1_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304bd43cd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304bd43cd_1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304bd43cd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304bd43cd_1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f304bd43cd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304bd43cd_1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304bd43cd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304bd43cd_1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304bd43cd_1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862c83e047_3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862c83e047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304bd43cd_1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f304bd43cd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862f240269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862f24026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685800" y="1371600"/>
            <a:ext cx="7848600" cy="1927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sz="5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85800" y="3505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2040"/>
              <a:buNone/>
              <a:defRPr>
                <a:solidFill>
                  <a:srgbClr val="55556F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SzPts val="1700"/>
              <a:buNone/>
              <a:defRPr>
                <a:solidFill>
                  <a:srgbClr val="8B8B8D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SzPts val="1620"/>
              <a:buNone/>
              <a:defRPr>
                <a:solidFill>
                  <a:srgbClr val="8B8B8D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B8B8D"/>
                </a:solidFill>
              </a:defRPr>
            </a:lvl4pPr>
            <a:lvl5pPr lvl="4" algn="ctr">
              <a:spcBef>
                <a:spcPts val="280"/>
              </a:spcBef>
              <a:spcAft>
                <a:spcPts val="0"/>
              </a:spcAft>
              <a:buSzPts val="1400"/>
              <a:buNone/>
              <a:defRPr>
                <a:solidFill>
                  <a:srgbClr val="8B8B8D"/>
                </a:solidFill>
              </a:defRPr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None/>
              <a:defRPr>
                <a:solidFill>
                  <a:srgbClr val="8B8B8D"/>
                </a:solidFill>
              </a:defRPr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None/>
              <a:defRPr>
                <a:solidFill>
                  <a:srgbClr val="8B8B8D"/>
                </a:solidFill>
              </a:defRPr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None/>
              <a:defRPr>
                <a:solidFill>
                  <a:srgbClr val="8B8B8D"/>
                </a:solidFill>
              </a:defRPr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None/>
              <a:defRPr>
                <a:solidFill>
                  <a:srgbClr val="8B8B8D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19" name="Google Shape;19;p2"/>
          <p:cNvCxnSpPr/>
          <p:nvPr/>
        </p:nvCxnSpPr>
        <p:spPr>
          <a:xfrm>
            <a:off x="685800" y="3398520"/>
            <a:ext cx="7848600" cy="1588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OGO_UNIFIL_CENTRO_UNIVERSITÁRIO" id="20" name="Google Shape;2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15816" y="476672"/>
            <a:ext cx="2880320" cy="864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2pPr>
            <a:lvl3pPr indent="-331470" lvl="2" marL="137160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2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722313" y="2362200"/>
            <a:ext cx="7772400" cy="2200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Arial"/>
              <a:buNone/>
              <a:defRPr b="0" sz="48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722313" y="4626864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040"/>
              <a:buNone/>
              <a:defRPr sz="2400">
                <a:solidFill>
                  <a:schemeClr val="lt2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38" name="Google Shape;38;p5"/>
          <p:cNvCxnSpPr/>
          <p:nvPr/>
        </p:nvCxnSpPr>
        <p:spPr>
          <a:xfrm>
            <a:off x="731520" y="4599432"/>
            <a:ext cx="7848600" cy="1588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457200" y="1673352"/>
            <a:ext cx="4038600" cy="4718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9730" lvl="0" marL="457200" algn="l">
              <a:spcBef>
                <a:spcPts val="560"/>
              </a:spcBef>
              <a:spcAft>
                <a:spcPts val="0"/>
              </a:spcAft>
              <a:buSzPts val="2380"/>
              <a:buChar char="•"/>
              <a:defRPr sz="28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•"/>
              <a:defRPr sz="24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6"/>
          <p:cNvSpPr txBox="1"/>
          <p:nvPr>
            <p:ph idx="2" type="body"/>
          </p:nvPr>
        </p:nvSpPr>
        <p:spPr>
          <a:xfrm>
            <a:off x="4648200" y="1673352"/>
            <a:ext cx="4038600" cy="4718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9730" lvl="0" marL="457200" algn="l">
              <a:spcBef>
                <a:spcPts val="560"/>
              </a:spcBef>
              <a:spcAft>
                <a:spcPts val="0"/>
              </a:spcAft>
              <a:buSzPts val="2380"/>
              <a:buChar char="•"/>
              <a:defRPr sz="28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•"/>
              <a:defRPr sz="24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457200" y="1676400"/>
            <a:ext cx="393192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1700"/>
              <a:buNone/>
              <a:defRPr b="0" sz="20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62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57200" y="2438400"/>
            <a:ext cx="393192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8140" lvl="0" marL="457200" algn="l">
              <a:spcBef>
                <a:spcPts val="480"/>
              </a:spcBef>
              <a:spcAft>
                <a:spcPts val="0"/>
              </a:spcAft>
              <a:buSzPts val="2040"/>
              <a:buChar char="•"/>
              <a:defRPr sz="24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•"/>
              <a:defRPr sz="2000"/>
            </a:lvl2pPr>
            <a:lvl3pPr indent="-331470" lvl="2" marL="137160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3" type="body"/>
          </p:nvPr>
        </p:nvSpPr>
        <p:spPr>
          <a:xfrm>
            <a:off x="4754880" y="1676400"/>
            <a:ext cx="393192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1700"/>
              <a:buNone/>
              <a:defRPr b="0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62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7"/>
          <p:cNvSpPr txBox="1"/>
          <p:nvPr>
            <p:ph idx="4" type="body"/>
          </p:nvPr>
        </p:nvSpPr>
        <p:spPr>
          <a:xfrm>
            <a:off x="4754880" y="2438400"/>
            <a:ext cx="393192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8140" lvl="0" marL="457200" algn="l">
              <a:spcBef>
                <a:spcPts val="480"/>
              </a:spcBef>
              <a:spcAft>
                <a:spcPts val="0"/>
              </a:spcAft>
              <a:buSzPts val="2040"/>
              <a:buChar char="•"/>
              <a:defRPr sz="24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•"/>
              <a:defRPr sz="2000"/>
            </a:lvl2pPr>
            <a:lvl3pPr indent="-331470" lvl="2" marL="137160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55" name="Google Shape;55;p7"/>
          <p:cNvCxnSpPr/>
          <p:nvPr/>
        </p:nvCxnSpPr>
        <p:spPr>
          <a:xfrm rot="5400000">
            <a:off x="2217817" y="4045823"/>
            <a:ext cx="4709160" cy="794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457200" y="792080"/>
            <a:ext cx="2139696" cy="12618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2971800" y="792080"/>
            <a:ext cx="5715000" cy="5577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1320" lvl="0" marL="457200" algn="l">
              <a:spcBef>
                <a:spcPts val="640"/>
              </a:spcBef>
              <a:spcAft>
                <a:spcPts val="0"/>
              </a:spcAft>
              <a:buSzPts val="2720"/>
              <a:buChar char="•"/>
              <a:defRPr sz="3200"/>
            </a:lvl1pPr>
            <a:lvl2pPr indent="-379730" lvl="1" marL="914400" algn="l">
              <a:spcBef>
                <a:spcPts val="560"/>
              </a:spcBef>
              <a:spcAft>
                <a:spcPts val="0"/>
              </a:spcAft>
              <a:buSzPts val="2380"/>
              <a:buChar char="•"/>
              <a:defRPr sz="2800"/>
            </a:lvl2pPr>
            <a:lvl3pPr indent="-365760" lvl="2" marL="1371600" algn="l">
              <a:spcBef>
                <a:spcPts val="480"/>
              </a:spcBef>
              <a:spcAft>
                <a:spcPts val="0"/>
              </a:spcAft>
              <a:buSzPts val="216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9"/>
          <p:cNvSpPr txBox="1"/>
          <p:nvPr>
            <p:ph idx="2" type="body"/>
          </p:nvPr>
        </p:nvSpPr>
        <p:spPr>
          <a:xfrm>
            <a:off x="457201" y="2130552"/>
            <a:ext cx="2139696" cy="4243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19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67" name="Google Shape;67;p9"/>
          <p:cNvCxnSpPr/>
          <p:nvPr/>
        </p:nvCxnSpPr>
        <p:spPr>
          <a:xfrm rot="5400000">
            <a:off x="-13116" y="3580206"/>
            <a:ext cx="5577840" cy="1588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457200" y="792480"/>
            <a:ext cx="2142680" cy="1264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/>
          <p:nvPr>
            <p:ph idx="2" type="pic"/>
          </p:nvPr>
        </p:nvSpPr>
        <p:spPr>
          <a:xfrm>
            <a:off x="2858610" y="838201"/>
            <a:ext cx="5904390" cy="5500456"/>
          </a:xfrm>
          <a:prstGeom prst="rect">
            <a:avLst/>
          </a:prstGeom>
          <a:solidFill>
            <a:schemeClr val="lt2"/>
          </a:solidFill>
          <a:ln cap="flat" cmpd="sng" w="762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" dir="5400000" dist="12700">
              <a:srgbClr val="000000">
                <a:alpha val="5882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72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38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457200" y="2133600"/>
            <a:ext cx="2139696" cy="4242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19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9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 rot="5400000">
            <a:off x="2133600" y="-76200"/>
            <a:ext cx="48768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2pPr>
            <a:lvl3pPr indent="-331470" lvl="2" marL="137160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 rot="5400000">
            <a:off x="4724400" y="2514600"/>
            <a:ext cx="5867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 rot="5400000">
            <a:off x="533400" y="533400"/>
            <a:ext cx="58674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•"/>
              <a:defRPr/>
            </a:lvl2pPr>
            <a:lvl3pPr indent="-331470" lvl="2" marL="137160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814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147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1150" lvl="5" marL="2743200" marR="0" rtl="0" algn="l">
              <a:spcBef>
                <a:spcPts val="26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1150" lvl="6" marL="3200400" marR="0" rtl="0" algn="l">
              <a:spcBef>
                <a:spcPts val="26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1150" lvl="7" marL="3657600" marR="0" rtl="0" algn="l">
              <a:spcBef>
                <a:spcPts val="26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1150" lvl="8" marL="4114800" marR="0" rtl="0" algn="l">
              <a:spcBef>
                <a:spcPts val="26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457200" y="18288"/>
            <a:ext cx="289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3429000" y="182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7620000" y="18288"/>
            <a:ext cx="1066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rive.google.com/file/d/1uZO-VQvVdELwAs_VHPv7ecxcTTi4r1Bb/view?usp=sharing" TargetMode="External"/><Relationship Id="rId4" Type="http://schemas.openxmlformats.org/officeDocument/2006/relationships/hyperlink" Target="https://drive.google.com/file/d/18SpD8agUTFay90oHlldqtZUYPagL3WAa/view?usp=sharing" TargetMode="External"/><Relationship Id="rId5" Type="http://schemas.openxmlformats.org/officeDocument/2006/relationships/hyperlink" Target="https://drive.google.com/file/d/1O2JHMCdlKKoZN2ultJ6C5Xy-sZfRUv2L/view?usp=sharing" TargetMode="External"/><Relationship Id="rId6" Type="http://schemas.openxmlformats.org/officeDocument/2006/relationships/hyperlink" Target="https://drive.google.com/file/d/1JXtsb6Myx8tSKaC8KtvRJTtQXnMuOERQ/view?usp=sharing" TargetMode="External"/><Relationship Id="rId7" Type="http://schemas.openxmlformats.org/officeDocument/2006/relationships/hyperlink" Target="https://drive.google.com/drive/folders/1D8e6tpXJUNDtbXWK5sWBvRUx0UahFZoA?usp=sharing" TargetMode="External"/><Relationship Id="rId8" Type="http://schemas.openxmlformats.org/officeDocument/2006/relationships/hyperlink" Target="https://drive.google.com/file/d/1GRQbx6qwXdPUwIKKi-hLJoww6XiHJqhd/view?usp=sharing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2.png"/><Relationship Id="rId8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rive.google.com/file/d/11qIuoip5rCoMr8UpBIxOJKYqNLo5GUn2/view?usp=sharing" TargetMode="External"/><Relationship Id="rId4" Type="http://schemas.openxmlformats.org/officeDocument/2006/relationships/hyperlink" Target="https://drive.google.com/file/d/1UmXevFnsV89YStDkYnn3-UatojtL3Ulv/view?usp=sharing" TargetMode="External"/><Relationship Id="rId9" Type="http://schemas.openxmlformats.org/officeDocument/2006/relationships/hyperlink" Target="https://drive.google.com/file/d/1WirCyHlKzPLzbSsQhItZ1c4GjPn892-G/view?usp=sharing" TargetMode="External"/><Relationship Id="rId5" Type="http://schemas.openxmlformats.org/officeDocument/2006/relationships/hyperlink" Target="https://drive.google.com/file/d/1HHmRnJT8gSKSRZkD92KrmWGn7XLMwLM_/view?usp=sharing" TargetMode="External"/><Relationship Id="rId6" Type="http://schemas.openxmlformats.org/officeDocument/2006/relationships/hyperlink" Target="https://drive.google.com/file/d/1OUIR1-oIe1s5_BrWw5jfrxxRLIivi2Fl/view?usp=sharing" TargetMode="External"/><Relationship Id="rId7" Type="http://schemas.openxmlformats.org/officeDocument/2006/relationships/hyperlink" Target="https://drive.google.com/drive/folders/1AnrIEmKkyCCdXDsUfL6fvkjpJHOB4BON?usp=sharing" TargetMode="External"/><Relationship Id="rId8" Type="http://schemas.openxmlformats.org/officeDocument/2006/relationships/hyperlink" Target="https://drive.google.com/drive/folders/1ktAhfllzWsPEo6CNx7VPKZLTsm4Nbvi2?usp=sharing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rive.google.com/file/d/11qIuoip5rCoMr8UpBIxOJKYqNLo5GUn2/view" TargetMode="External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rive.google.com/file/d/1UmXevFnsV89YStDkYnn3-UatojtL3Ulv/view" TargetMode="External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rive.google.com/file/d/1HHmRnJT8gSKSRZkD92KrmWGn7XLMwLM_/view" TargetMode="External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rive.google.com/file/d/1OUIR1-oIe1s5_BrWw5jfrxxRLIivi2Fl/view" TargetMode="External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rive.google.com/file/d/1M8p61EAR9CzwqGd2jgEWOm0UK1xSoLkj/view?usp=sharing" TargetMode="External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rive.google.com/file/d/1rkGyTbncU9Vc4bqG0p5ieWNj8W3ec9WU/view?usp=sharing" TargetMode="External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rive.google.com/file/d/1uDFp32w-TJs7-9BaP6UH0GXWQLpsnE8r/view?usp=sharing" TargetMode="External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rive.google.com/file/d/1Dwzs7JWzCyXGtkfOm05IaCD9WrRpghnU/view?usp=sharing" TargetMode="External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rive.google.com/file/d/1WirCyHlKzPLzbSsQhItZ1c4GjPn892-G/view?usp=sharing" TargetMode="External"/><Relationship Id="rId4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type="ctrTitle"/>
          </p:nvPr>
        </p:nvSpPr>
        <p:spPr>
          <a:xfrm>
            <a:off x="251507" y="1656809"/>
            <a:ext cx="87129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mo"/>
              <a:buNone/>
            </a:pPr>
            <a:br>
              <a:rPr b="1" lang="pt-BR" sz="2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b="1" lang="pt-BR" sz="3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StockFinance</a:t>
            </a:r>
            <a:br>
              <a:rPr b="1" lang="pt-BR" sz="3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b="1" lang="pt-BR" sz="2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Sistema de Controle de Estoque e Gestão Financeira</a:t>
            </a:r>
            <a:endParaRPr b="1"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2" name="Google Shape;92;p13"/>
          <p:cNvSpPr txBox="1"/>
          <p:nvPr>
            <p:ph idx="1" type="subTitle"/>
          </p:nvPr>
        </p:nvSpPr>
        <p:spPr>
          <a:xfrm>
            <a:off x="631952" y="2877737"/>
            <a:ext cx="7952100" cy="18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pt-BR" sz="2000">
                <a:latin typeface="Arimo"/>
                <a:ea typeface="Arimo"/>
                <a:cs typeface="Arimo"/>
                <a:sym typeface="Arimo"/>
              </a:rPr>
              <a:t>Aluno: Enzo Dutra de Oliveira Rodrigues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 sz="20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pt-BR" sz="2000">
                <a:latin typeface="Arimo"/>
                <a:ea typeface="Arimo"/>
                <a:cs typeface="Arimo"/>
                <a:sym typeface="Arimo"/>
              </a:rPr>
              <a:t>Curso: Engenharia de Software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 sz="20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pt-BR" sz="2000">
                <a:latin typeface="Arimo"/>
                <a:ea typeface="Arimo"/>
                <a:cs typeface="Arimo"/>
                <a:sym typeface="Arimo"/>
              </a:rPr>
              <a:t>Orientador: Eron Ponce Pereira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i="1" sz="2400"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1088225" y="6019800"/>
            <a:ext cx="696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rPr b="0" i="1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Londrina, </a:t>
            </a:r>
            <a:r>
              <a:rPr i="1"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06</a:t>
            </a:r>
            <a:r>
              <a:rPr b="0" i="1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i="1"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Introdução Cliente e Dificuldades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2725" lvl="0" marL="182880" rtl="0" algn="l">
              <a:spcBef>
                <a:spcPts val="480"/>
              </a:spcBef>
              <a:spcAft>
                <a:spcPts val="0"/>
              </a:spcAft>
              <a:buSzPts val="2000"/>
              <a:buChar char="•"/>
            </a:pPr>
            <a:r>
              <a:rPr lang="pt-BR" sz="2000">
                <a:latin typeface="Arimo"/>
                <a:ea typeface="Arimo"/>
                <a:cs typeface="Arimo"/>
                <a:sym typeface="Arimo"/>
              </a:rPr>
              <a:t>Controla tudo manualmente - bloco de notas ou planilhas</a:t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0" lvl="0" marL="18288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-212725" lvl="0" marL="182880" rtl="0" algn="l">
              <a:spcBef>
                <a:spcPts val="480"/>
              </a:spcBef>
              <a:spcAft>
                <a:spcPts val="0"/>
              </a:spcAft>
              <a:buSzPts val="2000"/>
              <a:buChar char="•"/>
            </a:pPr>
            <a:r>
              <a:rPr lang="pt-BR" sz="2000">
                <a:latin typeface="Arimo"/>
                <a:ea typeface="Arimo"/>
                <a:cs typeface="Arimo"/>
                <a:sym typeface="Arimo"/>
              </a:rPr>
              <a:t>Nenhum processo digitalizado de forma correta</a:t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0" lvl="0" marL="18288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-212725" lvl="0" marL="182880" rtl="0" algn="l">
              <a:spcBef>
                <a:spcPts val="480"/>
              </a:spcBef>
              <a:spcAft>
                <a:spcPts val="0"/>
              </a:spcAft>
              <a:buSzPts val="2000"/>
              <a:buChar char="•"/>
            </a:pPr>
            <a:r>
              <a:rPr lang="pt-BR" sz="2000">
                <a:latin typeface="Arimo"/>
                <a:ea typeface="Arimo"/>
                <a:cs typeface="Arimo"/>
                <a:sym typeface="Arimo"/>
              </a:rPr>
              <a:t>Falta de controle confiável do estoque, gerando divergências e perdas.</a:t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0" lvl="0" marL="18288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-212725" lvl="0" marL="182880" rtl="0" algn="l">
              <a:spcBef>
                <a:spcPts val="480"/>
              </a:spcBef>
              <a:spcAft>
                <a:spcPts val="0"/>
              </a:spcAft>
              <a:buSzPts val="2000"/>
              <a:buChar char="•"/>
            </a:pPr>
            <a:r>
              <a:rPr lang="pt-BR" sz="2000">
                <a:latin typeface="Arimo"/>
                <a:ea typeface="Arimo"/>
                <a:cs typeface="Arimo"/>
                <a:sym typeface="Arimo"/>
              </a:rPr>
              <a:t>Informações descentralizadas, dificultando a gestão do negócio.</a:t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0" lvl="0" marL="18288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-212725" lvl="0" marL="182880" rtl="0" algn="l">
              <a:spcBef>
                <a:spcPts val="480"/>
              </a:spcBef>
              <a:spcAft>
                <a:spcPts val="0"/>
              </a:spcAft>
              <a:buSzPts val="2000"/>
              <a:buChar char="•"/>
            </a:pPr>
            <a:r>
              <a:rPr lang="pt-BR" sz="2000">
                <a:latin typeface="Arimo"/>
                <a:ea typeface="Arimo"/>
                <a:cs typeface="Arimo"/>
                <a:sym typeface="Arimo"/>
              </a:rPr>
              <a:t>Dificuldade em acompanhar o desempenho financeiro e as vendas.</a:t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100" name="Google Shape;10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1740" y="533400"/>
            <a:ext cx="805064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Benefícios do Sistema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06" name="Google Shape;106;p15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0025" lvl="0" marL="182880" rtl="0" algn="l">
              <a:spcBef>
                <a:spcPts val="480"/>
              </a:spcBef>
              <a:spcAft>
                <a:spcPts val="0"/>
              </a:spcAft>
              <a:buSzPts val="1800"/>
              <a:buChar char="•"/>
            </a:pPr>
            <a:r>
              <a:rPr lang="pt-BR" sz="1800">
                <a:latin typeface="Arimo"/>
                <a:ea typeface="Arimo"/>
                <a:cs typeface="Arimo"/>
                <a:sym typeface="Arimo"/>
              </a:rPr>
              <a:t>Realizar o controle de estoque de produtos de forma eficiente e confiável.</a:t>
            </a:r>
            <a:endParaRPr sz="18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mo"/>
              <a:ea typeface="Arimo"/>
              <a:cs typeface="Arimo"/>
              <a:sym typeface="Arimo"/>
            </a:endParaRPr>
          </a:p>
          <a:p>
            <a:pPr indent="-200025" lvl="0" marL="182880" rtl="0" algn="l">
              <a:spcBef>
                <a:spcPts val="480"/>
              </a:spcBef>
              <a:spcAft>
                <a:spcPts val="0"/>
              </a:spcAft>
              <a:buSzPts val="1800"/>
              <a:buChar char="•"/>
            </a:pPr>
            <a:r>
              <a:rPr lang="pt-BR" sz="1800">
                <a:latin typeface="Arimo"/>
                <a:ea typeface="Arimo"/>
                <a:cs typeface="Arimo"/>
                <a:sym typeface="Arimo"/>
              </a:rPr>
              <a:t>Registrar e acompanhar informações sobre clientes, produtos e vendas realizadas pela empresa.</a:t>
            </a:r>
            <a:endParaRPr sz="1800">
              <a:latin typeface="Arimo"/>
              <a:ea typeface="Arimo"/>
              <a:cs typeface="Arimo"/>
              <a:sym typeface="Arimo"/>
            </a:endParaRPr>
          </a:p>
          <a:p>
            <a:pPr indent="0" lvl="0" marL="18288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mo"/>
              <a:ea typeface="Arimo"/>
              <a:cs typeface="Arimo"/>
              <a:sym typeface="Arimo"/>
            </a:endParaRPr>
          </a:p>
          <a:p>
            <a:pPr indent="-200025" lvl="0" marL="182880" rtl="0" algn="l">
              <a:spcBef>
                <a:spcPts val="480"/>
              </a:spcBef>
              <a:spcAft>
                <a:spcPts val="0"/>
              </a:spcAft>
              <a:buSzPts val="1800"/>
              <a:buChar char="•"/>
            </a:pPr>
            <a:r>
              <a:rPr lang="pt-BR" sz="1800">
                <a:latin typeface="Arimo"/>
                <a:ea typeface="Arimo"/>
                <a:cs typeface="Arimo"/>
                <a:sym typeface="Arimo"/>
              </a:rPr>
              <a:t>Centralizar as informações do negócio em um único sistema, garantindo maior organização, controle e confiabilidade dos dados armazenados.</a:t>
            </a:r>
            <a:endParaRPr sz="1800">
              <a:latin typeface="Arimo"/>
              <a:ea typeface="Arimo"/>
              <a:cs typeface="Arimo"/>
              <a:sym typeface="Arimo"/>
            </a:endParaRPr>
          </a:p>
          <a:p>
            <a:pPr indent="0" lvl="0" marL="18288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mo"/>
              <a:ea typeface="Arimo"/>
              <a:cs typeface="Arimo"/>
              <a:sym typeface="Arimo"/>
            </a:endParaRPr>
          </a:p>
          <a:p>
            <a:pPr indent="-200025" lvl="0" marL="182880" rtl="0" algn="l">
              <a:spcBef>
                <a:spcPts val="480"/>
              </a:spcBef>
              <a:spcAft>
                <a:spcPts val="0"/>
              </a:spcAft>
              <a:buSzPts val="1800"/>
              <a:buChar char="•"/>
            </a:pPr>
            <a:r>
              <a:rPr lang="pt-BR" sz="1800">
                <a:latin typeface="Arimo"/>
                <a:ea typeface="Arimo"/>
                <a:cs typeface="Arimo"/>
                <a:sym typeface="Arimo"/>
              </a:rPr>
              <a:t>Auxiliar no acompanhamento financeiro por meio do histórico e de relatórios de vendas.</a:t>
            </a:r>
            <a:endParaRPr sz="1800"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Artefatos e Requisitos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7325" lvl="0" marL="182880" rtl="0" algn="l">
              <a:spcBef>
                <a:spcPts val="480"/>
              </a:spcBef>
              <a:spcAft>
                <a:spcPts val="0"/>
              </a:spcAft>
              <a:buSzPts val="1600"/>
              <a:buChar char="•"/>
            </a:pPr>
            <a:r>
              <a:rPr lang="pt-BR" sz="1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3"/>
              </a:rPr>
              <a:t>Solicitação dos Princ. Envolvidos (Pedido dos Investidores)</a:t>
            </a:r>
            <a:br>
              <a:rPr lang="pt-BR" sz="1600">
                <a:latin typeface="Arimo"/>
                <a:ea typeface="Arimo"/>
                <a:cs typeface="Arimo"/>
                <a:sym typeface="Arimo"/>
              </a:rPr>
            </a:br>
            <a:endParaRPr sz="1600">
              <a:latin typeface="Arimo"/>
              <a:ea typeface="Arimo"/>
              <a:cs typeface="Arimo"/>
              <a:sym typeface="Arimo"/>
            </a:endParaRPr>
          </a:p>
          <a:p>
            <a:pPr indent="-187325" lvl="0" marL="182880" rtl="0" algn="l">
              <a:spcBef>
                <a:spcPts val="480"/>
              </a:spcBef>
              <a:spcAft>
                <a:spcPts val="0"/>
              </a:spcAft>
              <a:buSzPts val="1600"/>
              <a:buChar char="•"/>
            </a:pPr>
            <a:r>
              <a:rPr lang="pt-BR" sz="1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4"/>
              </a:rPr>
              <a:t>Especificação Suplementar (Requisitos Não Funcionais)</a:t>
            </a:r>
            <a:br>
              <a:rPr lang="pt-BR" sz="1600">
                <a:latin typeface="Arimo"/>
                <a:ea typeface="Arimo"/>
                <a:cs typeface="Arimo"/>
                <a:sym typeface="Arimo"/>
              </a:rPr>
            </a:br>
            <a:endParaRPr sz="1600">
              <a:latin typeface="Arimo"/>
              <a:ea typeface="Arimo"/>
              <a:cs typeface="Arimo"/>
              <a:sym typeface="Arimo"/>
            </a:endParaRPr>
          </a:p>
          <a:p>
            <a:pPr indent="-187325" lvl="0" marL="182880" rtl="0" algn="l">
              <a:spcBef>
                <a:spcPts val="480"/>
              </a:spcBef>
              <a:spcAft>
                <a:spcPts val="0"/>
              </a:spcAft>
              <a:buSzPts val="1600"/>
              <a:buChar char="•"/>
            </a:pPr>
            <a:r>
              <a:rPr lang="pt-BR" sz="1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5"/>
              </a:rPr>
              <a:t>Documento de Visão (Informal)</a:t>
            </a:r>
            <a:br>
              <a:rPr lang="pt-BR" sz="1600">
                <a:latin typeface="Arimo"/>
                <a:ea typeface="Arimo"/>
                <a:cs typeface="Arimo"/>
                <a:sym typeface="Arimo"/>
              </a:rPr>
            </a:br>
            <a:endParaRPr sz="1600">
              <a:latin typeface="Arimo"/>
              <a:ea typeface="Arimo"/>
              <a:cs typeface="Arimo"/>
              <a:sym typeface="Arimo"/>
            </a:endParaRPr>
          </a:p>
          <a:p>
            <a:pPr indent="-187325" lvl="0" marL="182880" rtl="0" algn="l">
              <a:spcBef>
                <a:spcPts val="480"/>
              </a:spcBef>
              <a:spcAft>
                <a:spcPts val="0"/>
              </a:spcAft>
              <a:buSzPts val="1600"/>
              <a:buChar char="•"/>
            </a:pPr>
            <a:r>
              <a:rPr lang="pt-BR" sz="1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6"/>
              </a:rPr>
              <a:t>Glossário</a:t>
            </a:r>
            <a:br>
              <a:rPr lang="pt-BR" sz="1600">
                <a:latin typeface="Arimo"/>
                <a:ea typeface="Arimo"/>
                <a:cs typeface="Arimo"/>
                <a:sym typeface="Arimo"/>
              </a:rPr>
            </a:br>
            <a:endParaRPr sz="1600">
              <a:latin typeface="Arimo"/>
              <a:ea typeface="Arimo"/>
              <a:cs typeface="Arimo"/>
              <a:sym typeface="Arimo"/>
            </a:endParaRPr>
          </a:p>
          <a:p>
            <a:pPr indent="-187325" lvl="0" marL="182880" rtl="0" algn="l">
              <a:spcBef>
                <a:spcPts val="480"/>
              </a:spcBef>
              <a:spcAft>
                <a:spcPts val="0"/>
              </a:spcAft>
              <a:buSzPts val="1600"/>
              <a:buChar char="•"/>
            </a:pPr>
            <a:r>
              <a:rPr lang="pt-BR" sz="1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7"/>
              </a:rPr>
              <a:t>Especificações de Casos de Uso</a:t>
            </a:r>
            <a:br>
              <a:rPr lang="pt-BR" sz="1600">
                <a:latin typeface="Arimo"/>
                <a:ea typeface="Arimo"/>
                <a:cs typeface="Arimo"/>
                <a:sym typeface="Arimo"/>
              </a:rPr>
            </a:br>
            <a:endParaRPr sz="1600">
              <a:latin typeface="Arimo"/>
              <a:ea typeface="Arimo"/>
              <a:cs typeface="Arimo"/>
              <a:sym typeface="Arimo"/>
            </a:endParaRPr>
          </a:p>
          <a:p>
            <a:pPr indent="-187325" lvl="0" marL="182880" rtl="0" algn="l">
              <a:spcBef>
                <a:spcPts val="480"/>
              </a:spcBef>
              <a:spcAft>
                <a:spcPts val="0"/>
              </a:spcAft>
              <a:buSzPts val="1600"/>
              <a:buFont typeface="Arimo"/>
              <a:buChar char="•"/>
            </a:pPr>
            <a:r>
              <a:rPr lang="pt-BR" sz="1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8"/>
              </a:rPr>
              <a:t>Relatório de Estágio</a:t>
            </a:r>
            <a:endParaRPr sz="1600"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0025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pt-BR" sz="1800">
                <a:latin typeface="Arimo"/>
                <a:ea typeface="Arimo"/>
                <a:cs typeface="Arimo"/>
                <a:sym typeface="Arimo"/>
              </a:rPr>
              <a:t>Runtime: </a:t>
            </a:r>
            <a:r>
              <a:rPr lang="pt-BR" sz="1800">
                <a:latin typeface="Arimo"/>
                <a:ea typeface="Arimo"/>
                <a:cs typeface="Arimo"/>
                <a:sym typeface="Arimo"/>
              </a:rPr>
              <a:t>Node.js </a:t>
            </a:r>
            <a:endParaRPr sz="18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mo"/>
              <a:ea typeface="Arimo"/>
              <a:cs typeface="Arimo"/>
              <a:sym typeface="Arimo"/>
            </a:endParaRPr>
          </a:p>
          <a:p>
            <a:pPr indent="-200025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pt-BR" sz="1800">
                <a:latin typeface="Arimo"/>
                <a:ea typeface="Arimo"/>
                <a:cs typeface="Arimo"/>
                <a:sym typeface="Arimo"/>
              </a:rPr>
              <a:t>Linguagem: </a:t>
            </a:r>
            <a:r>
              <a:rPr lang="pt-BR" sz="1800">
                <a:latin typeface="Arimo"/>
                <a:ea typeface="Arimo"/>
                <a:cs typeface="Arimo"/>
                <a:sym typeface="Arimo"/>
              </a:rPr>
              <a:t>TypeScript (backend e frontend)</a:t>
            </a:r>
            <a:endParaRPr sz="18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mo"/>
              <a:ea typeface="Arimo"/>
              <a:cs typeface="Arimo"/>
              <a:sym typeface="Arimo"/>
            </a:endParaRPr>
          </a:p>
          <a:p>
            <a:pPr indent="-200025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pt-BR" sz="1800">
                <a:latin typeface="Arimo"/>
                <a:ea typeface="Arimo"/>
                <a:cs typeface="Arimo"/>
                <a:sym typeface="Arimo"/>
              </a:rPr>
              <a:t>Framework HTTP:</a:t>
            </a:r>
            <a:r>
              <a:rPr lang="pt-BR" sz="1800">
                <a:latin typeface="Arimo"/>
                <a:ea typeface="Arimo"/>
                <a:cs typeface="Arimo"/>
                <a:sym typeface="Arimo"/>
              </a:rPr>
              <a:t> Express</a:t>
            </a:r>
            <a:endParaRPr sz="18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mo"/>
              <a:ea typeface="Arimo"/>
              <a:cs typeface="Arimo"/>
              <a:sym typeface="Arimo"/>
            </a:endParaRPr>
          </a:p>
          <a:p>
            <a:pPr indent="-200025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pt-BR" sz="1800">
                <a:latin typeface="Arimo"/>
                <a:ea typeface="Arimo"/>
                <a:cs typeface="Arimo"/>
                <a:sym typeface="Arimo"/>
              </a:rPr>
              <a:t>ORM: </a:t>
            </a:r>
            <a:r>
              <a:rPr lang="pt-BR" sz="1800">
                <a:latin typeface="Arimo"/>
                <a:ea typeface="Arimo"/>
                <a:cs typeface="Arimo"/>
                <a:sym typeface="Arimo"/>
              </a:rPr>
              <a:t>Prisma</a:t>
            </a:r>
            <a:endParaRPr sz="18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mo"/>
              <a:ea typeface="Arimo"/>
              <a:cs typeface="Arimo"/>
              <a:sym typeface="Arimo"/>
            </a:endParaRPr>
          </a:p>
          <a:p>
            <a:pPr indent="-200025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pt-BR" sz="1800">
                <a:latin typeface="Arimo"/>
                <a:ea typeface="Arimo"/>
                <a:cs typeface="Arimo"/>
                <a:sym typeface="Arimo"/>
              </a:rPr>
              <a:t>Banco de dados: </a:t>
            </a:r>
            <a:r>
              <a:rPr lang="pt-BR" sz="1800">
                <a:latin typeface="Arimo"/>
                <a:ea typeface="Arimo"/>
                <a:cs typeface="Arimo"/>
                <a:sym typeface="Arimo"/>
              </a:rPr>
              <a:t>PostgreSQL via Supabase </a:t>
            </a:r>
            <a:endParaRPr sz="18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mo"/>
              <a:ea typeface="Arimo"/>
              <a:cs typeface="Arimo"/>
              <a:sym typeface="Arimo"/>
            </a:endParaRPr>
          </a:p>
          <a:p>
            <a:pPr indent="-200025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pt-BR" sz="1800">
                <a:latin typeface="Arimo"/>
                <a:ea typeface="Arimo"/>
                <a:cs typeface="Arimo"/>
                <a:sym typeface="Arimo"/>
              </a:rPr>
              <a:t>F</a:t>
            </a:r>
            <a:r>
              <a:rPr b="1" lang="pt-BR" sz="1800">
                <a:latin typeface="Arimo"/>
                <a:ea typeface="Arimo"/>
                <a:cs typeface="Arimo"/>
                <a:sym typeface="Arimo"/>
              </a:rPr>
              <a:t>rontend: </a:t>
            </a:r>
            <a:r>
              <a:rPr lang="pt-BR" sz="1800">
                <a:latin typeface="Arimo"/>
                <a:ea typeface="Arimo"/>
                <a:cs typeface="Arimo"/>
                <a:sym typeface="Arimo"/>
              </a:rPr>
              <a:t>React + Vite — TypeScript com TSX</a:t>
            </a:r>
            <a:endParaRPr sz="1800"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8" name="Google Shape;118;p17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Tecnologias Usadas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119" name="Google Shape;11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7475" y="646579"/>
            <a:ext cx="1145001" cy="114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7700" y="729700"/>
            <a:ext cx="870502" cy="870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9450" y="2676087"/>
            <a:ext cx="2217350" cy="672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69450" y="1748237"/>
            <a:ext cx="2217349" cy="87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87701" y="3482013"/>
            <a:ext cx="1072349" cy="110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41799" y="3525513"/>
            <a:ext cx="1144998" cy="1018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pt-BR" sz="1800">
                <a:latin typeface="Arimo"/>
                <a:ea typeface="Arimo"/>
                <a:cs typeface="Arimo"/>
                <a:sym typeface="Arimo"/>
              </a:rPr>
              <a:t>Produtos: </a:t>
            </a:r>
            <a:r>
              <a:rPr lang="pt-BR" sz="1800">
                <a:latin typeface="Arimo"/>
                <a:ea typeface="Arimo"/>
                <a:cs typeface="Arimo"/>
                <a:sym typeface="Arimo"/>
              </a:rPr>
              <a:t>CRUD completo — listar, buscar por nome, cadastrar, editar e excluir via soft delete. Estoque e contagem de vendas são atualizados automaticamente conforme as vendas acontecem.</a:t>
            </a:r>
            <a:endParaRPr sz="18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pt-BR" sz="1800">
                <a:latin typeface="Arimo"/>
                <a:ea typeface="Arimo"/>
                <a:cs typeface="Arimo"/>
                <a:sym typeface="Arimo"/>
              </a:rPr>
              <a:t>Vendas:</a:t>
            </a:r>
            <a:r>
              <a:rPr lang="pt-BR" sz="1800">
                <a:latin typeface="Arimo"/>
                <a:ea typeface="Arimo"/>
                <a:cs typeface="Arimo"/>
                <a:sym typeface="Arimo"/>
              </a:rPr>
              <a:t> CRUD completo — listar, buscar por produto ou cliente, registrar, editar e cancelar via soft delete. Ao registrar ou editar, o sistema valida estoque e preço, ajustando o estoque do produto automaticamente.</a:t>
            </a:r>
            <a:endParaRPr sz="18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pt-BR" sz="1800">
                <a:latin typeface="Arimo"/>
                <a:ea typeface="Arimo"/>
                <a:cs typeface="Arimo"/>
                <a:sym typeface="Arimo"/>
              </a:rPr>
              <a:t>Clientes:</a:t>
            </a:r>
            <a:r>
              <a:rPr lang="pt-BR" sz="1800">
                <a:latin typeface="Arimo"/>
                <a:ea typeface="Arimo"/>
                <a:cs typeface="Arimo"/>
                <a:sym typeface="Arimo"/>
              </a:rPr>
              <a:t> Não foi desenvolvido no momento. Uma lista fixa de 5 clientes está hardcoded no código (mock), usada apenas para validar o clientId ao registrar uma venda e para permitir a busca de vendas por nome ou telefone do cliente.</a:t>
            </a:r>
            <a:endParaRPr sz="18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Casos de Uso Desenvolvidos</a:t>
            </a:r>
            <a:endParaRPr b="1" sz="3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Diagramas do Sistema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7325" lvl="0" marL="182880" rtl="0" algn="l">
              <a:spcBef>
                <a:spcPts val="480"/>
              </a:spcBef>
              <a:spcAft>
                <a:spcPts val="0"/>
              </a:spcAft>
              <a:buSzPts val="1600"/>
              <a:buChar char="•"/>
            </a:pPr>
            <a:r>
              <a:rPr lang="pt-BR" sz="1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3"/>
              </a:rPr>
              <a:t>Workflow AS-IS</a:t>
            </a:r>
            <a:endParaRPr/>
          </a:p>
          <a:p>
            <a:pPr indent="0" lvl="0" marL="18288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187325" lvl="0" marL="182880" rtl="0" algn="l">
              <a:spcBef>
                <a:spcPts val="480"/>
              </a:spcBef>
              <a:spcAft>
                <a:spcPts val="0"/>
              </a:spcAft>
              <a:buSzPts val="1600"/>
              <a:buChar char="•"/>
            </a:pPr>
            <a:r>
              <a:rPr lang="pt-BR" sz="1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4"/>
              </a:rPr>
              <a:t>Diagrama de Caso de Uso</a:t>
            </a:r>
            <a:br>
              <a:rPr lang="pt-BR" sz="1600">
                <a:latin typeface="Arimo"/>
                <a:ea typeface="Arimo"/>
                <a:cs typeface="Arimo"/>
                <a:sym typeface="Arimo"/>
              </a:rPr>
            </a:br>
            <a:endParaRPr sz="1600">
              <a:latin typeface="Arimo"/>
              <a:ea typeface="Arimo"/>
              <a:cs typeface="Arimo"/>
              <a:sym typeface="Arimo"/>
            </a:endParaRPr>
          </a:p>
          <a:p>
            <a:pPr indent="-187325" lvl="0" marL="182880" rtl="0" algn="l">
              <a:spcBef>
                <a:spcPts val="480"/>
              </a:spcBef>
              <a:spcAft>
                <a:spcPts val="0"/>
              </a:spcAft>
              <a:buSzPts val="1600"/>
              <a:buChar char="•"/>
            </a:pPr>
            <a:r>
              <a:rPr lang="pt-BR" sz="1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5"/>
              </a:rPr>
              <a:t>Diagrama de Classe</a:t>
            </a:r>
            <a:br>
              <a:rPr lang="pt-BR" sz="1600">
                <a:latin typeface="Arimo"/>
                <a:ea typeface="Arimo"/>
                <a:cs typeface="Arimo"/>
                <a:sym typeface="Arimo"/>
              </a:rPr>
            </a:br>
            <a:endParaRPr sz="1600">
              <a:latin typeface="Arimo"/>
              <a:ea typeface="Arimo"/>
              <a:cs typeface="Arimo"/>
              <a:sym typeface="Arimo"/>
            </a:endParaRPr>
          </a:p>
          <a:p>
            <a:pPr indent="-187325" lvl="0" marL="182880" rtl="0" algn="l">
              <a:spcBef>
                <a:spcPts val="480"/>
              </a:spcBef>
              <a:spcAft>
                <a:spcPts val="0"/>
              </a:spcAft>
              <a:buSzPts val="1600"/>
              <a:buChar char="•"/>
            </a:pPr>
            <a:r>
              <a:rPr lang="pt-BR" sz="1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6"/>
              </a:rPr>
              <a:t>Diagrama Entidade Relacionamento</a:t>
            </a:r>
            <a:br>
              <a:rPr lang="pt-BR" sz="1600">
                <a:latin typeface="Arimo"/>
                <a:ea typeface="Arimo"/>
                <a:cs typeface="Arimo"/>
                <a:sym typeface="Arimo"/>
              </a:rPr>
            </a:br>
            <a:endParaRPr sz="1600">
              <a:latin typeface="Arimo"/>
              <a:ea typeface="Arimo"/>
              <a:cs typeface="Arimo"/>
              <a:sym typeface="Arimo"/>
            </a:endParaRPr>
          </a:p>
          <a:p>
            <a:pPr indent="-187325" lvl="0" marL="182880" rtl="0" algn="l">
              <a:spcBef>
                <a:spcPts val="480"/>
              </a:spcBef>
              <a:spcAft>
                <a:spcPts val="0"/>
              </a:spcAft>
              <a:buSzPts val="1600"/>
              <a:buChar char="•"/>
            </a:pPr>
            <a:r>
              <a:rPr lang="pt-BR" sz="1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7"/>
              </a:rPr>
              <a:t>Diagramas de Sequência</a:t>
            </a:r>
            <a:br>
              <a:rPr lang="pt-BR" sz="1600">
                <a:latin typeface="Arimo"/>
                <a:ea typeface="Arimo"/>
                <a:cs typeface="Arimo"/>
                <a:sym typeface="Arimo"/>
              </a:rPr>
            </a:br>
            <a:endParaRPr sz="1600">
              <a:latin typeface="Arimo"/>
              <a:ea typeface="Arimo"/>
              <a:cs typeface="Arimo"/>
              <a:sym typeface="Arimo"/>
            </a:endParaRPr>
          </a:p>
          <a:p>
            <a:pPr indent="-187325" lvl="0" marL="182880" rtl="0" algn="l">
              <a:spcBef>
                <a:spcPts val="480"/>
              </a:spcBef>
              <a:spcAft>
                <a:spcPts val="0"/>
              </a:spcAft>
              <a:buSzPts val="1600"/>
              <a:buChar char="•"/>
            </a:pPr>
            <a:r>
              <a:rPr lang="pt-BR" sz="1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8"/>
              </a:rPr>
              <a:t>Diagramas de Estado</a:t>
            </a:r>
            <a:br>
              <a:rPr lang="pt-BR" sz="1600">
                <a:latin typeface="Arimo"/>
                <a:ea typeface="Arimo"/>
                <a:cs typeface="Arimo"/>
                <a:sym typeface="Arimo"/>
              </a:rPr>
            </a:br>
            <a:endParaRPr sz="1600">
              <a:latin typeface="Arimo"/>
              <a:ea typeface="Arimo"/>
              <a:cs typeface="Arimo"/>
              <a:sym typeface="Arimo"/>
            </a:endParaRPr>
          </a:p>
          <a:p>
            <a:pPr indent="-187325" lvl="0" marL="182880" rtl="0" algn="l">
              <a:spcBef>
                <a:spcPts val="480"/>
              </a:spcBef>
              <a:spcAft>
                <a:spcPts val="0"/>
              </a:spcAft>
              <a:buSzPts val="1600"/>
              <a:buFont typeface="Arimo"/>
              <a:buChar char="•"/>
            </a:pPr>
            <a:r>
              <a:rPr lang="pt-BR" sz="1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9"/>
              </a:rPr>
              <a:t>Diagrama de Implantação</a:t>
            </a:r>
            <a:endParaRPr sz="1600"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3"/>
              </a:rPr>
              <a:t>Workflow AS-IS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142" name="Google Shape;14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676400"/>
            <a:ext cx="8839204" cy="4436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3"/>
              </a:rPr>
              <a:t>Diagrama de Caso de Uso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148" name="Google Shape;14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1100" y="1524000"/>
            <a:ext cx="4821811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3"/>
              </a:rPr>
              <a:t>Diagrama de Classe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9663" y="1480000"/>
            <a:ext cx="5284675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3"/>
              </a:rPr>
              <a:t>Diagrama Entidade Relacionamento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160" name="Google Shape;16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7475" y="1524000"/>
            <a:ext cx="4569054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3"/>
              </a:rPr>
              <a:t>Diagrama de Sequência Produtos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166" name="Google Shape;16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200" y="1523999"/>
            <a:ext cx="8837596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3"/>
              </a:rPr>
              <a:t>Diagrama de Sequência Vendas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172" name="Google Shape;17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7613" y="1459075"/>
            <a:ext cx="5088770" cy="525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3"/>
              </a:rPr>
              <a:t>Diagrama de Estado de Produtos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178" name="Google Shape;17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6288" y="1524000"/>
            <a:ext cx="7591425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3"/>
              </a:rPr>
              <a:t>Diagrama de Estado de Vendas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184" name="Google Shape;18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6000" y="1817100"/>
            <a:ext cx="7692000" cy="384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3"/>
              </a:rPr>
              <a:t>Diagrama de Implantação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190" name="Google Shape;19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8563" y="1524000"/>
            <a:ext cx="4826876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>
            <p:ph type="title"/>
          </p:nvPr>
        </p:nvSpPr>
        <p:spPr>
          <a:xfrm>
            <a:off x="457200" y="29337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5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Apresentação do Sistema</a:t>
            </a:r>
            <a:endParaRPr b="1" sz="5000">
              <a:solidFill>
                <a:schemeClr val="dk1"/>
              </a:solidFill>
            </a:endParaRPr>
          </a:p>
        </p:txBody>
      </p:sp>
      <p:pic>
        <p:nvPicPr>
          <p:cNvPr id="196" name="Google Shape;19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6950" y="732125"/>
            <a:ext cx="1939850" cy="193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4455550"/>
            <a:ext cx="1939850" cy="193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Futuro do Sistema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203" name="Google Shape;203;p30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pt-BR" sz="1800">
                <a:latin typeface="Arimo"/>
                <a:ea typeface="Arimo"/>
                <a:cs typeface="Arimo"/>
                <a:sym typeface="Arimo"/>
              </a:rPr>
              <a:t>Interface:</a:t>
            </a:r>
            <a:r>
              <a:rPr lang="pt-BR" sz="1800">
                <a:latin typeface="Arimo"/>
                <a:ea typeface="Arimo"/>
                <a:cs typeface="Arimo"/>
                <a:sym typeface="Arimo"/>
              </a:rPr>
              <a:t> Pretendo refinar toda a interface para que fique fiel ao layout projetado no Figma, ajustando componentes, cores, tipografia e espaçamentos. A ideia é que o sistema tenha uma aparência mais profissional e consistente em todas as telas.</a:t>
            </a:r>
            <a:endParaRPr sz="18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pt-BR" sz="1800">
                <a:latin typeface="Arimo"/>
                <a:ea typeface="Arimo"/>
                <a:cs typeface="Arimo"/>
                <a:sym typeface="Arimo"/>
              </a:rPr>
              <a:t>CRUD de Clientes:</a:t>
            </a:r>
            <a:r>
              <a:rPr lang="pt-BR" sz="1800">
                <a:latin typeface="Arimo"/>
                <a:ea typeface="Arimo"/>
                <a:cs typeface="Arimo"/>
                <a:sym typeface="Arimo"/>
              </a:rPr>
              <a:t> Hoje os clientes são um mock estático no código. O próximo passo é substituir isso por uma entidade real, com tabela no banco, rotas no backend e tela de gerenciamento no frontend — permitindo cadastrar, editar, buscar e excluir clientes normalmente como já funciona para produtos e vendas.</a:t>
            </a:r>
            <a:endParaRPr sz="18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pt-BR" sz="1800">
                <a:latin typeface="Arimo"/>
                <a:ea typeface="Arimo"/>
                <a:cs typeface="Arimo"/>
                <a:sym typeface="Arimo"/>
              </a:rPr>
              <a:t>Relatórios e Exportação</a:t>
            </a:r>
            <a:r>
              <a:rPr lang="pt-BR" sz="1800">
                <a:latin typeface="Arimo"/>
                <a:ea typeface="Arimo"/>
                <a:cs typeface="Arimo"/>
                <a:sym typeface="Arimo"/>
              </a:rPr>
              <a:t> Pretendo desenvolver uma área de relatórios com métricas como total de vendas por período, produtos mais vendidos, clientes com maior volume de compras e faturamento geral. Esses dados poderão ser exportados em CSV para facilitar análises externas e uso em planilhas.</a:t>
            </a:r>
            <a:endParaRPr sz="18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/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mo"/>
              <a:buNone/>
            </a:pPr>
            <a:r>
              <a:rPr b="1" lang="pt-BR"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Conclusão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209" name="Google Shape;209;p31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spcBef>
                <a:spcPts val="480"/>
              </a:spcBef>
              <a:spcAft>
                <a:spcPts val="0"/>
              </a:spcAft>
              <a:buSzPts val="2200"/>
              <a:buFont typeface="Arimo"/>
              <a:buChar char="•"/>
            </a:pPr>
            <a:r>
              <a:rPr lang="pt-BR" sz="2200">
                <a:latin typeface="Arimo"/>
                <a:ea typeface="Arimo"/>
                <a:cs typeface="Arimo"/>
                <a:sym typeface="Arimo"/>
              </a:rPr>
              <a:t>Implementação do gerenciamento de produtos e vendas</a:t>
            </a:r>
            <a:endParaRPr sz="2200">
              <a:latin typeface="Arimo"/>
              <a:ea typeface="Arimo"/>
              <a:cs typeface="Arimo"/>
              <a:sym typeface="Arimo"/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Arimo"/>
              <a:ea typeface="Arimo"/>
              <a:cs typeface="Arimo"/>
              <a:sym typeface="Arimo"/>
            </a:endParaRPr>
          </a:p>
          <a:p>
            <a:pPr indent="-368300" lvl="0" marL="457200" rtl="0" algn="l">
              <a:spcBef>
                <a:spcPts val="480"/>
              </a:spcBef>
              <a:spcAft>
                <a:spcPts val="0"/>
              </a:spcAft>
              <a:buSzPts val="2200"/>
              <a:buFont typeface="Arimo"/>
              <a:buChar char="•"/>
            </a:pPr>
            <a:r>
              <a:rPr lang="pt-BR" sz="2200">
                <a:latin typeface="Arimo"/>
                <a:ea typeface="Arimo"/>
                <a:cs typeface="Arimo"/>
                <a:sym typeface="Arimo"/>
              </a:rPr>
              <a:t>Aplicação dos conhecimentos adquiridos durante a faculdade e no dia-a-dia</a:t>
            </a:r>
            <a:endParaRPr sz="2200">
              <a:latin typeface="Arimo"/>
              <a:ea typeface="Arimo"/>
              <a:cs typeface="Arimo"/>
              <a:sym typeface="Arimo"/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Arimo"/>
              <a:ea typeface="Arimo"/>
              <a:cs typeface="Arimo"/>
              <a:sym typeface="Arimo"/>
            </a:endParaRPr>
          </a:p>
          <a:p>
            <a:pPr indent="-368300" lvl="0" marL="457200" rtl="0" algn="l">
              <a:spcBef>
                <a:spcPts val="480"/>
              </a:spcBef>
              <a:spcAft>
                <a:spcPts val="0"/>
              </a:spcAft>
              <a:buSzPts val="2200"/>
              <a:buFont typeface="Arimo"/>
              <a:buChar char="•"/>
            </a:pPr>
            <a:r>
              <a:rPr lang="pt-BR" sz="2200">
                <a:latin typeface="Arimo"/>
                <a:ea typeface="Arimo"/>
                <a:cs typeface="Arimo"/>
                <a:sym typeface="Arimo"/>
              </a:rPr>
              <a:t>Estruturação da arquitetura do sistema</a:t>
            </a:r>
            <a:endParaRPr sz="2200">
              <a:latin typeface="Arimo"/>
              <a:ea typeface="Arimo"/>
              <a:cs typeface="Arimo"/>
              <a:sym typeface="Arimo"/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Arimo"/>
              <a:ea typeface="Arimo"/>
              <a:cs typeface="Arimo"/>
              <a:sym typeface="Arimo"/>
            </a:endParaRPr>
          </a:p>
          <a:p>
            <a:pPr indent="-368300" lvl="0" marL="457200" rtl="0" algn="l">
              <a:spcBef>
                <a:spcPts val="480"/>
              </a:spcBef>
              <a:spcAft>
                <a:spcPts val="0"/>
              </a:spcAft>
              <a:buSzPts val="2200"/>
              <a:buFont typeface="Arimo"/>
              <a:buChar char="•"/>
            </a:pPr>
            <a:r>
              <a:rPr lang="pt-BR" sz="2200">
                <a:latin typeface="Arimo"/>
                <a:ea typeface="Arimo"/>
                <a:cs typeface="Arimo"/>
                <a:sym typeface="Arimo"/>
              </a:rPr>
              <a:t>Análise de documentos e diagramas para realizar codificação</a:t>
            </a:r>
            <a:br>
              <a:rPr lang="pt-BR" sz="2200">
                <a:latin typeface="Arimo"/>
                <a:ea typeface="Arimo"/>
                <a:cs typeface="Arimo"/>
                <a:sym typeface="Arimo"/>
              </a:rPr>
            </a:br>
            <a:br>
              <a:rPr lang="pt-BR" sz="2200">
                <a:latin typeface="Arimo"/>
                <a:ea typeface="Arimo"/>
                <a:cs typeface="Arimo"/>
                <a:sym typeface="Arimo"/>
              </a:rPr>
            </a:br>
            <a:endParaRPr sz="2200"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