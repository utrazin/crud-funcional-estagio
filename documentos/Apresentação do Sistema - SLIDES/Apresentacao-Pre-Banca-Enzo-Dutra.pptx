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embeddedFontLst>
    <p:embeddedFont>
      <p:font typeface="Arim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04bd43cd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304bd43cd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04bd43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304bd43c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04bd43cd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304bd43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04bd43cd_1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304bd43cd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04bd43cd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304bd43cd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04bd43cd_1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304bd43cd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04bd43cd_1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304bd43cd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04bd43cd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304bd43cd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04bd43cd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04bd43cd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04bd43cd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04bd43cd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04bd43cd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304bd43cd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304bd43cd_1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304bd43cd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62c83e047_3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62c83e047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04bd43cd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304bd43c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862f24026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862f2402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040"/>
              <a:buNone/>
              <a:defRPr>
                <a:solidFill>
                  <a:srgbClr val="55556F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1700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685800" y="3398520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_UNIFIL_CENTRO_UNIVERSITÁRIO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15816" y="476672"/>
            <a:ext cx="288032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2362200"/>
            <a:ext cx="7772400" cy="220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b="0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462686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04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731520" y="4599432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457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648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5720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475488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475488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5" name="Google Shape;55;p7"/>
          <p:cNvCxnSpPr/>
          <p:nvPr/>
        </p:nvCxnSpPr>
        <p:spPr>
          <a:xfrm rot="5400000">
            <a:off x="2217817" y="4045823"/>
            <a:ext cx="4709160" cy="794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7200" y="792080"/>
            <a:ext cx="213969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2971800" y="792080"/>
            <a:ext cx="5715000" cy="5577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1320" lvl="0" marL="457200" algn="l">
              <a:spcBef>
                <a:spcPts val="640"/>
              </a:spcBef>
              <a:spcAft>
                <a:spcPts val="0"/>
              </a:spcAft>
              <a:buSzPts val="2720"/>
              <a:buChar char="•"/>
              <a:defRPr sz="3200"/>
            </a:lvl1pPr>
            <a:lvl2pPr indent="-379730" lvl="1" marL="9144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2pPr>
            <a:lvl3pPr indent="-365760" lvl="2" marL="1371600" algn="l">
              <a:spcBef>
                <a:spcPts val="480"/>
              </a:spcBef>
              <a:spcAft>
                <a:spcPts val="0"/>
              </a:spcAft>
              <a:buSzPts val="216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457201" y="2130552"/>
            <a:ext cx="2139696" cy="424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7" name="Google Shape;67;p9"/>
          <p:cNvCxnSpPr/>
          <p:nvPr/>
        </p:nvCxnSpPr>
        <p:spPr>
          <a:xfrm rot="5400000">
            <a:off x="-13116" y="3580206"/>
            <a:ext cx="557784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57200" y="792480"/>
            <a:ext cx="2142680" cy="1264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2858610" y="838201"/>
            <a:ext cx="5904390" cy="5500456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12700">
              <a:srgbClr val="000000">
                <a:alpha val="5882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57200" y="2133600"/>
            <a:ext cx="2139696" cy="424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133600" y="-76200"/>
            <a:ext cx="4876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24400" y="2514600"/>
            <a:ext cx="5867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33400" y="533400"/>
            <a:ext cx="5867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81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7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uZO-VQvVdELwAs_VHPv7ecxcTTi4r1Bb/view?usp=sharing" TargetMode="External"/><Relationship Id="rId4" Type="http://schemas.openxmlformats.org/officeDocument/2006/relationships/hyperlink" Target="https://drive.google.com/file/d/18SpD8agUTFay90oHlldqtZUYPagL3WAa/view?usp=sharing" TargetMode="External"/><Relationship Id="rId5" Type="http://schemas.openxmlformats.org/officeDocument/2006/relationships/hyperlink" Target="https://drive.google.com/file/d/1O2JHMCdlKKoZN2ultJ6C5Xy-sZfRUv2L/view?usp=sharing" TargetMode="External"/><Relationship Id="rId6" Type="http://schemas.openxmlformats.org/officeDocument/2006/relationships/hyperlink" Target="https://drive.google.com/file/d/1JXtsb6Myx8tSKaC8KtvRJTtQXnMuOERQ/view?usp=sharing" TargetMode="External"/><Relationship Id="rId7" Type="http://schemas.openxmlformats.org/officeDocument/2006/relationships/hyperlink" Target="https://drive.google.com/drive/folders/1D8e6tpXJUNDtbXWK5sWBvRUx0UahFZoA?usp=sharing" TargetMode="External"/><Relationship Id="rId8" Type="http://schemas.openxmlformats.org/officeDocument/2006/relationships/hyperlink" Target="https://drive.google.com/file/d/1GRQbx6qwXdPUwIKKi-hLJoww6XiHJqhd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1qIuoip5rCoMr8UpBIxOJKYqNLo5GUn2/view?usp=sharing" TargetMode="External"/><Relationship Id="rId4" Type="http://schemas.openxmlformats.org/officeDocument/2006/relationships/hyperlink" Target="https://drive.google.com/file/d/1UmXevFnsV89YStDkYnn3-UatojtL3Ulv/view?usp=sharing" TargetMode="External"/><Relationship Id="rId9" Type="http://schemas.openxmlformats.org/officeDocument/2006/relationships/hyperlink" Target="https://drive.google.com/file/d/1WirCyHlKzPLzbSsQhItZ1c4GjPn892-G/view?usp=sharing" TargetMode="External"/><Relationship Id="rId5" Type="http://schemas.openxmlformats.org/officeDocument/2006/relationships/hyperlink" Target="https://drive.google.com/file/d/1HHmRnJT8gSKSRZkD92KrmWGn7XLMwLM_/view?usp=sharing" TargetMode="External"/><Relationship Id="rId6" Type="http://schemas.openxmlformats.org/officeDocument/2006/relationships/hyperlink" Target="https://drive.google.com/file/d/1OUIR1-oIe1s5_BrWw5jfrxxRLIivi2Fl/view?usp=sharing" TargetMode="External"/><Relationship Id="rId7" Type="http://schemas.openxmlformats.org/officeDocument/2006/relationships/hyperlink" Target="https://drive.google.com/drive/folders/1AnrIEmKkyCCdXDsUfL6fvkjpJHOB4BON?usp=sharing" TargetMode="External"/><Relationship Id="rId8" Type="http://schemas.openxmlformats.org/officeDocument/2006/relationships/hyperlink" Target="https://drive.google.com/drive/folders/1ktAhfllzWsPEo6CNx7VPKZLTsm4Nbvi2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1qIuoip5rCoMr8UpBIxOJKYqNLo5GUn2/view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UmXevFnsV89YStDkYnn3-UatojtL3Ulv/view" TargetMode="External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HHmRnJT8gSKSRZkD92KrmWGn7XLMwLM_/view" TargetMode="External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OUIR1-oIe1s5_BrWw5jfrxxRLIivi2Fl/view" TargetMode="External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M8p61EAR9CzwqGd2jgEWOm0UK1xSoLkj/view?usp=sharing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file/d/1rkGyTbncU9Vc4bqG0p5ieWNj8W3ec9WU/view?usp=sharing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uDFp32w-TJs7-9BaP6UH0GXWQLpsnE8r/view?usp=sharing" TargetMode="External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Dwzs7JWzCyXGtkfOm05IaCD9WrRpghnU/view?usp=sharing" TargetMode="External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WirCyHlKzPLzbSsQhItZ1c4GjPn892-G/view?usp=sharing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251507" y="1656809"/>
            <a:ext cx="8712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mo"/>
              <a:buNone/>
            </a:pPr>
            <a:br>
              <a:rPr b="1" lang="pt-BR" sz="2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lang="pt-BR" sz="3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StockFinance</a:t>
            </a:r>
            <a:br>
              <a:rPr b="1" lang="pt-BR" sz="3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lang="pt-BR" sz="2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Sistema de Controle de Estoque e Gestão Financeira</a:t>
            </a:r>
            <a:endParaRPr b="1"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631952" y="2877737"/>
            <a:ext cx="7952100" cy="18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Aluno: Enzo Dutra de Oliveira Rodrigues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Curso: Engenharia de Software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Orientador: Eron Ponce Pereira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i="1" sz="24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088225" y="6019800"/>
            <a:ext cx="696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b="0" i="1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Londrina, </a:t>
            </a:r>
            <a:r>
              <a:rPr i="1"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r>
              <a:rPr b="0" i="1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i="1"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Introdução Cliente e Dificuldades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Controla tudo manualmente - bloco de notas ou planilhas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Nenhum processo digitalizado de forma correta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Falta de controle confiável do estoque, gerando divergências e perdas.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Informações descentralizadas, dificultando a gestão do negócio.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Dificuldade em acompanhar o desempenho financeiro e as vendas.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1740" y="533400"/>
            <a:ext cx="805064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Benefícios do Sistema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Realizar o controle de estoque de produtos de forma eficiente e confiável.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Registrar e acompanhar informações sobre clientes, produtos e vendas realizadas pela empresa.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Centralizar as informações do negócio em um único sistema, garantindo maior organização, controle e confiabilidade dos dados armazenados.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>
                <a:latin typeface="Arimo"/>
                <a:ea typeface="Arimo"/>
                <a:cs typeface="Arimo"/>
                <a:sym typeface="Arimo"/>
              </a:rPr>
              <a:t>Auxiliar no acompanhamento financeiro por meio do histórico e de relatórios de vendas.</a:t>
            </a:r>
            <a:endParaRPr sz="21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Artefatos e Requisitos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Solicitação dos Princ. Envolvidos (Pedido dos Investidores)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Especificação Suplementar (Requisitos Não Funcionais)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Documento de Visão (Informal)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6"/>
              </a:rPr>
              <a:t>Glossário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7"/>
              </a:rPr>
              <a:t>Especificações de Casos de Uso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Font typeface="Arimo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8"/>
              </a:rPr>
              <a:t>Relatório de Estágio</a:t>
            </a:r>
            <a:endParaRPr sz="21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27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Runtime: </a:t>
            </a:r>
            <a:r>
              <a:rPr lang="pt-BR" sz="2000">
                <a:latin typeface="Arimo"/>
                <a:ea typeface="Arimo"/>
                <a:cs typeface="Arimo"/>
                <a:sym typeface="Arimo"/>
              </a:rPr>
              <a:t>Node.js v24.14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Linguagem: </a:t>
            </a:r>
            <a:r>
              <a:rPr lang="pt-BR" sz="2000">
                <a:latin typeface="Arimo"/>
                <a:ea typeface="Arimo"/>
                <a:cs typeface="Arimo"/>
                <a:sym typeface="Arimo"/>
              </a:rPr>
              <a:t>TypeScript 5/6 (backend e frontend)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Framework HTTP:</a:t>
            </a:r>
            <a:r>
              <a:rPr lang="pt-BR" sz="2000">
                <a:latin typeface="Arimo"/>
                <a:ea typeface="Arimo"/>
                <a:cs typeface="Arimo"/>
                <a:sym typeface="Arimo"/>
              </a:rPr>
              <a:t> Express 4.18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ORM: </a:t>
            </a:r>
            <a:r>
              <a:rPr lang="pt-BR" sz="2000">
                <a:latin typeface="Arimo"/>
                <a:ea typeface="Arimo"/>
                <a:cs typeface="Arimo"/>
                <a:sym typeface="Arimo"/>
              </a:rPr>
              <a:t>Prisma 7.6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Banco de dados: </a:t>
            </a:r>
            <a:r>
              <a:rPr lang="pt-BR" sz="2000">
                <a:latin typeface="Arimo"/>
                <a:ea typeface="Arimo"/>
                <a:cs typeface="Arimo"/>
                <a:sym typeface="Arimo"/>
              </a:rPr>
              <a:t>PostgreSQL via Supabase 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Frontend: </a:t>
            </a:r>
            <a:r>
              <a:rPr lang="pt-BR" sz="2000">
                <a:latin typeface="Arimo"/>
                <a:ea typeface="Arimo"/>
                <a:cs typeface="Arimo"/>
                <a:sym typeface="Arimo"/>
              </a:rPr>
              <a:t>React 19 + Vite 8 - TypeScript com TSX</a:t>
            </a:r>
            <a:endParaRPr sz="20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Tecnologias Usadas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475" y="646579"/>
            <a:ext cx="1145001" cy="114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7700" y="729700"/>
            <a:ext cx="870502" cy="87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9450" y="2676087"/>
            <a:ext cx="2217350" cy="67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9450" y="1748237"/>
            <a:ext cx="2217349" cy="87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7701" y="3482013"/>
            <a:ext cx="1072349" cy="110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41799" y="3525513"/>
            <a:ext cx="1144998" cy="1018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2100">
                <a:latin typeface="Arimo"/>
                <a:ea typeface="Arimo"/>
                <a:cs typeface="Arimo"/>
                <a:sym typeface="Arimo"/>
              </a:rPr>
              <a:t>Produtos: </a:t>
            </a:r>
            <a:r>
              <a:rPr lang="pt-BR" sz="2100">
                <a:latin typeface="Arimo"/>
                <a:ea typeface="Arimo"/>
                <a:cs typeface="Arimo"/>
                <a:sym typeface="Arimo"/>
              </a:rPr>
              <a:t>CRUD completo - listar, buscar por nome, cadastrar, editar e excluir via soft delete. Estoque e contagem de vendas são atualizados automaticamente conforme as vendas acontecem.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2100">
                <a:latin typeface="Arimo"/>
                <a:ea typeface="Arimo"/>
                <a:cs typeface="Arimo"/>
                <a:sym typeface="Arimo"/>
              </a:rPr>
              <a:t>Vendas:</a:t>
            </a:r>
            <a:r>
              <a:rPr lang="pt-BR" sz="2100">
                <a:latin typeface="Arimo"/>
                <a:ea typeface="Arimo"/>
                <a:cs typeface="Arimo"/>
                <a:sym typeface="Arimo"/>
              </a:rPr>
              <a:t> CRUD completo - listar, buscar por produto ou cliente, registrar, editar e cancelar via soft delete. Ao registrar ou editar, o sistema valida estoque e preço, ajustando o estoque do produto automaticamente.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2100">
                <a:latin typeface="Arimo"/>
                <a:ea typeface="Arimo"/>
                <a:cs typeface="Arimo"/>
                <a:sym typeface="Arimo"/>
              </a:rPr>
              <a:t>Clientes:</a:t>
            </a:r>
            <a:r>
              <a:rPr lang="pt-BR" sz="2100">
                <a:latin typeface="Arimo"/>
                <a:ea typeface="Arimo"/>
                <a:cs typeface="Arimo"/>
                <a:sym typeface="Arimo"/>
              </a:rPr>
              <a:t> Não foi desenvolvido no momento. Uma lista fixa de 5 clientes está hardcoded no código (mock), usada apenas para validar o clientId ao registrar uma venda e para permitir a busca de vendas por nome ou telefone do cliente.</a:t>
            </a: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Casos de Uso Desenvolvidos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Diagramas do Sistema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Workflow AS-IS</a:t>
            </a:r>
            <a:endParaRPr sz="2100"/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Diagrama de Caso de Uso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Diagrama de Classe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6"/>
              </a:rPr>
              <a:t>Diagrama Entidade Relacionamento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7"/>
              </a:rPr>
              <a:t>Diagramas de Sequência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8"/>
              </a:rPr>
              <a:t>Diagramas de Estado</a:t>
            </a:r>
            <a:br>
              <a:rPr lang="pt-BR" sz="2100">
                <a:latin typeface="Arimo"/>
                <a:ea typeface="Arimo"/>
                <a:cs typeface="Arimo"/>
                <a:sym typeface="Arimo"/>
              </a:rPr>
            </a:br>
            <a:endParaRPr sz="2100">
              <a:latin typeface="Arimo"/>
              <a:ea typeface="Arimo"/>
              <a:cs typeface="Arimo"/>
              <a:sym typeface="Arimo"/>
            </a:endParaRPr>
          </a:p>
          <a:p>
            <a:pPr indent="-219075" lvl="0" marL="182880" rtl="0" algn="l">
              <a:spcBef>
                <a:spcPts val="480"/>
              </a:spcBef>
              <a:spcAft>
                <a:spcPts val="0"/>
              </a:spcAft>
              <a:buSzPts val="2100"/>
              <a:buFont typeface="Arimo"/>
              <a:buChar char="•"/>
            </a:pPr>
            <a:r>
              <a:rPr lang="pt-BR" sz="21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9"/>
              </a:rPr>
              <a:t>Diagrama de Implantação</a:t>
            </a:r>
            <a:endParaRPr sz="21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Workflow AS-IS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76400"/>
            <a:ext cx="8839204" cy="4436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Caso de Uso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100" y="1524000"/>
            <a:ext cx="4821811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Classe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663" y="1480000"/>
            <a:ext cx="5284675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Entidade Relacionamento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7475" y="1524000"/>
            <a:ext cx="4569054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Sequência Produtos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00" y="1523999"/>
            <a:ext cx="8837596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Sequência Vendas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613" y="1459075"/>
            <a:ext cx="5088770" cy="52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Estado de Produtos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288" y="1524000"/>
            <a:ext cx="7591425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Estado de Vendas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000" y="1817100"/>
            <a:ext cx="7692000" cy="38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Implantação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563" y="1524000"/>
            <a:ext cx="4826876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457200" y="29337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5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Apresentação do Sistema</a:t>
            </a:r>
            <a:endParaRPr b="1" sz="5000">
              <a:solidFill>
                <a:schemeClr val="dk1"/>
              </a:solidFill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6950" y="732125"/>
            <a:ext cx="1939850" cy="19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455550"/>
            <a:ext cx="1939850" cy="19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Futuro do Sistema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900">
                <a:latin typeface="Arimo"/>
                <a:ea typeface="Arimo"/>
                <a:cs typeface="Arimo"/>
                <a:sym typeface="Arimo"/>
              </a:rPr>
              <a:t>Interface:</a:t>
            </a:r>
            <a:r>
              <a:rPr lang="pt-BR" sz="1900">
                <a:latin typeface="Arimo"/>
                <a:ea typeface="Arimo"/>
                <a:cs typeface="Arimo"/>
                <a:sym typeface="Arimo"/>
              </a:rPr>
              <a:t> Pretendo refinar toda a interface para que fique fiel ao layout projetado no Figma, ajustando componentes, cores, tipografia e espaçamentos. A ideia é que o sistema tenha uma aparência mais profissional e consistente em todas as telas.</a:t>
            </a:r>
            <a:endParaRPr sz="19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900">
                <a:latin typeface="Arimo"/>
                <a:ea typeface="Arimo"/>
                <a:cs typeface="Arimo"/>
                <a:sym typeface="Arimo"/>
              </a:rPr>
              <a:t>CRUD de Clientes:</a:t>
            </a:r>
            <a:r>
              <a:rPr lang="pt-BR" sz="1900">
                <a:latin typeface="Arimo"/>
                <a:ea typeface="Arimo"/>
                <a:cs typeface="Arimo"/>
                <a:sym typeface="Arimo"/>
              </a:rPr>
              <a:t> Hoje os clientes são um mock estático no código. O próximo passo é substituir isso por uma entidade real, com tabela no banco, rotas no backend e tela de gerenciamento no frontend — permitindo cadastrar, editar, buscar e excluir clientes normalmente como já funciona para produtos e vendas.</a:t>
            </a:r>
            <a:endParaRPr sz="19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900">
                <a:latin typeface="Arimo"/>
                <a:ea typeface="Arimo"/>
                <a:cs typeface="Arimo"/>
                <a:sym typeface="Arimo"/>
              </a:rPr>
              <a:t>Relatórios e Exportação</a:t>
            </a:r>
            <a:r>
              <a:rPr lang="pt-BR" sz="1900">
                <a:latin typeface="Arimo"/>
                <a:ea typeface="Arimo"/>
                <a:cs typeface="Arimo"/>
                <a:sym typeface="Arimo"/>
              </a:rPr>
              <a:t> Pretendo desenvolver uma área de relatórios com métricas como total de vendas por período, produtos mais vendidos, clientes com maior volume de compras e faturamento geral. Esses dados poderão ser exportados em CSV para facilitar análises externas e uso em planilhas.</a:t>
            </a:r>
            <a:endParaRPr sz="19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Conclusão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Implementação do gerenciamento de produtos e vendas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Aplicação dos conhecimentos adquiridos durante a faculdade e no dia-a-dia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Estruturação da arquitetura do sistema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Análise de documentos e diagramas para realizar codificação</a:t>
            </a:r>
            <a:br>
              <a:rPr lang="pt-BR" sz="2200">
                <a:latin typeface="Arimo"/>
                <a:ea typeface="Arimo"/>
                <a:cs typeface="Arimo"/>
                <a:sym typeface="Arimo"/>
              </a:rPr>
            </a:br>
            <a:br>
              <a:rPr lang="pt-BR" sz="2200">
                <a:latin typeface="Arimo"/>
                <a:ea typeface="Arimo"/>
                <a:cs typeface="Arimo"/>
                <a:sym typeface="Arimo"/>
              </a:rPr>
            </a:br>
            <a:endParaRPr sz="22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